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02c5e5bd5d4fdc" /><Relationship Type="http://schemas.openxmlformats.org/officeDocument/2006/relationships/extended-properties" Target="/docProps/app.xml" Id="Rc67a58b9f9754cc4" /><Relationship Type="http://schemas.openxmlformats.org/officeDocument/2006/relationships/officeDocument" Target="/ppt/presentation.xml" Id="R07cc9357b89147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c66f77c4d44721"/>
  </p:sldMasterIdLst>
  <p:notesMasterIdLst>
    <p:notesMasterId xmlns:r="http://schemas.openxmlformats.org/officeDocument/2006/relationships" r:id="R222985bb8383430c"/>
  </p:notesMasterIdLst>
  <p:sldIdLst>
    <p:sldId xmlns:r="http://schemas.openxmlformats.org/officeDocument/2006/relationships" id="256" r:id="R1ac3f6ee7bac4daf"/>
    <p:sldId xmlns:r="http://schemas.openxmlformats.org/officeDocument/2006/relationships" id="257" r:id="R90c1408a4c5a442c"/>
    <p:sldId xmlns:r="http://schemas.openxmlformats.org/officeDocument/2006/relationships" id="258" r:id="R1f9fa7b58e6f42cc"/>
    <p:sldId xmlns:r="http://schemas.openxmlformats.org/officeDocument/2006/relationships" id="259" r:id="Rf2f1143e9a654a61"/>
    <p:sldId xmlns:r="http://schemas.openxmlformats.org/officeDocument/2006/relationships" id="260" r:id="R25d94cee14364063"/>
    <p:sldId xmlns:r="http://schemas.openxmlformats.org/officeDocument/2006/relationships" id="261" r:id="Ra958546f4d7f45fe"/>
    <p:sldId xmlns:r="http://schemas.openxmlformats.org/officeDocument/2006/relationships" id="262" r:id="Rb449af2fcbf7446f"/>
    <p:sldId xmlns:r="http://schemas.openxmlformats.org/officeDocument/2006/relationships" id="263" r:id="Rfb8c66d3619a4fb9"/>
    <p:sldId xmlns:r="http://schemas.openxmlformats.org/officeDocument/2006/relationships" id="264" r:id="Rd69084101b2542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9f175b416244a4" /><Relationship Type="http://schemas.openxmlformats.org/officeDocument/2006/relationships/slideMaster" Target="/ppt/slideMasters/slideMaster1.xml" Id="Re5c66f77c4d44721" /><Relationship Type="http://schemas.openxmlformats.org/officeDocument/2006/relationships/notesMaster" Target="/ppt/notesMasters/notesMaster1.xml" Id="R222985bb8383430c" /><Relationship Type="http://schemas.openxmlformats.org/officeDocument/2006/relationships/presProps" Target="/ppt/presProps.xml" Id="R28c694563c844797" /><Relationship Type="http://schemas.openxmlformats.org/officeDocument/2006/relationships/tableStyles" Target="/ppt/tableStyles.xml" Id="R0624b06751be4fbb" /><Relationship Type="http://schemas.openxmlformats.org/officeDocument/2006/relationships/slide" Target="/ppt/slides/slide1.xml" Id="R1ac3f6ee7bac4daf" /><Relationship Type="http://schemas.openxmlformats.org/officeDocument/2006/relationships/slide" Target="/ppt/slides/slide2.xml" Id="R90c1408a4c5a442c" /><Relationship Type="http://schemas.openxmlformats.org/officeDocument/2006/relationships/slide" Target="/ppt/slides/slide3.xml" Id="R1f9fa7b58e6f42cc" /><Relationship Type="http://schemas.openxmlformats.org/officeDocument/2006/relationships/slide" Target="/ppt/slides/slide4.xml" Id="Rf2f1143e9a654a61" /><Relationship Type="http://schemas.openxmlformats.org/officeDocument/2006/relationships/slide" Target="/ppt/slides/slide5.xml" Id="R25d94cee14364063" /><Relationship Type="http://schemas.openxmlformats.org/officeDocument/2006/relationships/slide" Target="/ppt/slides/slide6.xml" Id="Ra958546f4d7f45fe" /><Relationship Type="http://schemas.openxmlformats.org/officeDocument/2006/relationships/slide" Target="/ppt/slides/slide7.xml" Id="Rb449af2fcbf7446f" /><Relationship Type="http://schemas.openxmlformats.org/officeDocument/2006/relationships/slide" Target="/ppt/slides/slide8.xml" Id="Rfb8c66d3619a4fb9" /><Relationship Type="http://schemas.openxmlformats.org/officeDocument/2006/relationships/slide" Target="/ppt/slides/slide9.xml" Id="Rd69084101b2542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270dc982ab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38dfaf3834c80" /><Relationship Type="http://schemas.openxmlformats.org/officeDocument/2006/relationships/notesMaster" Target="/ppt/notesMasters/notesMaster1.xml" Id="R3ef7663f74c34e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f784fbfd9492d" /><Relationship Type="http://schemas.openxmlformats.org/officeDocument/2006/relationships/notesMaster" Target="/ppt/notesMasters/notesMaster1.xml" Id="R26f56af6ea4540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256d69ae2c4369" /><Relationship Type="http://schemas.openxmlformats.org/officeDocument/2006/relationships/notesMaster" Target="/ppt/notesMasters/notesMaster1.xml" Id="R295b209831d5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c1a0082ffb45e3" /><Relationship Type="http://schemas.openxmlformats.org/officeDocument/2006/relationships/notesMaster" Target="/ppt/notesMasters/notesMaster1.xml" Id="Rd3627110d0f145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23bc1a203b4844" /><Relationship Type="http://schemas.openxmlformats.org/officeDocument/2006/relationships/notesMaster" Target="/ppt/notesMasters/notesMaster1.xml" Id="Re398602067e744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b7ada74e65463d" /><Relationship Type="http://schemas.openxmlformats.org/officeDocument/2006/relationships/notesMaster" Target="/ppt/notesMasters/notesMaster1.xml" Id="Rc4384013f9fc41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695733e793411a" /><Relationship Type="http://schemas.openxmlformats.org/officeDocument/2006/relationships/notesMaster" Target="/ppt/notesMasters/notesMaster1.xml" Id="Re78c24fd84e945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9dc59e149a41f3" /><Relationship Type="http://schemas.openxmlformats.org/officeDocument/2006/relationships/notesMaster" Target="/ppt/notesMasters/notesMaster1.xml" Id="R2920950c1b764d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3f8d4631de488b" /><Relationship Type="http://schemas.openxmlformats.org/officeDocument/2006/relationships/notesMaster" Target="/ppt/notesMasters/notesMaster1.xml" Id="R9654694a2066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지원용 요약 자료. 모든 수치와 판정은 저장소의 원본 증적 및 기술 보고서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채용공고의 OT 진단, 시험환경 구성, 보고, 자동화 항목과 직접 연결.</a:t>
            </a:r>
          </a:p>
          <a:p xmlns:a="http://schemas.openxmlformats.org/drawingml/2006/main">
            <a:r>
              <a:t>Web·Mobile·Cloud 경험을 이 프로젝트 하나로 포장하지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architecture.md와 compose.yaml 기준.</a:t>
            </a:r>
          </a:p>
          <a:p xmlns:a="http://schemas.openxmlformats.org/drawingml/2006/main">
            <a:r>
              <a:t>태그의 읽기/쓰기 표기는 HMI 사용 목적이며 서버 권한 정책을 뜻하지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methodology.md 및 modbus_pump_check.py 기준.</a:t>
            </a:r>
          </a:p>
          <a:p xmlns:a="http://schemas.openxmlformats.org/drawingml/2006/main">
            <a:r>
              <a:t>실제 설비가 아닌 소유한 가상 환경에서만 수행.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evidence/baseline/fuxa-openplc-pcap-2026-09-18.md</a:t>
            </a:r>
          </a:p>
          <a:p xmlns:a="http://schemas.openxmlformats.org/drawingml/2006/main">
            <a:r>
              <a:t>evidence/baseline/fuxa-openplc-operation-2026-09-18.md</a:t>
            </a:r>
          </a:p>
          <a:p xmlns:a="http://schemas.openxmlformats.org/drawingml/2006/main">
            <a:r>
              <a:t>evidence/baseline/fuxa-high-level-alarm-2026-09-18.png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reports/finding-ac-01.md</a:t>
            </a:r>
          </a:p>
          <a:p xmlns:a="http://schemas.openxmlformats.org/drawingml/2006/main">
            <a:r>
              <a:t>evidence/assessment/ac-02-unauthenticated-write-2026-09-19.md</a:t>
            </a:r>
          </a:p>
          <a:p xmlns:a="http://schemas.openxmlformats.org/drawingml/2006/main">
            <a:r>
              <a:t>다섯 개 자동 확인 항목 true, error 및 reset_error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docs/network-remediation.md</a:t>
            </a:r>
          </a:p>
          <a:p xmlns:a="http://schemas.openxmlformats.org/drawingml/2006/main">
            <a:r>
              <a:t>evidence/retest/ac-01-network-separation-2026-09-19.md</a:t>
            </a:r>
          </a:p>
          <a:p xmlns:a="http://schemas.openxmlformats.org/drawingml/2006/main">
            <a:r>
              <a:t>IP 직접 경로와 조치 후 PCAP은 후속 검증 항목.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docs/test-matrix.md</a:t>
            </a:r>
          </a:p>
          <a:p xmlns:a="http://schemas.openxmlformats.org/drawingml/2006/main">
            <a:r>
              <a:t>docs/retest-runbook.md</a:t>
            </a:r>
          </a:p>
          <a:p xmlns:a="http://schemas.openxmlformats.org/drawingml/2006/main">
            <a:r>
              <a:t>lab/tools/invoke-retest.ps1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면접에서는 구현보다 판단 근거, 증적 범위, 안전 통제를 중심으로 설명.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de17a10aa42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8823ba43d34717" /><Relationship Type="http://schemas.openxmlformats.org/officeDocument/2006/relationships/slideLayout" Target="/ppt/slideLayouts/slideLayout1.xml" Id="R73500470744844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00470744844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acaeb7ee84851" /><Relationship Type="http://schemas.openxmlformats.org/officeDocument/2006/relationships/notesSlide" Target="/ppt/notesSlides/notesSlide1.xml" Id="R131a19a3feb5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1e5fa00f44530" /><Relationship Type="http://schemas.openxmlformats.org/officeDocument/2006/relationships/notesSlide" Target="/ppt/notesSlides/notesSlide2.xml" Id="R2736ab31928f4e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0e311ca70431d" /><Relationship Type="http://schemas.openxmlformats.org/officeDocument/2006/relationships/notesSlide" Target="/ppt/notesSlides/notesSlide3.xml" Id="R1db1eb0935ab44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d8427ea81401a" /><Relationship Type="http://schemas.openxmlformats.org/officeDocument/2006/relationships/notesSlide" Target="/ppt/notesSlides/notesSlide4.xml" Id="Rf6520134a5d145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a77c72f404d59" /><Relationship Type="http://schemas.openxmlformats.org/officeDocument/2006/relationships/image" Target="/ppt/media/image.png" Id="R4fc8de84ead64189" /><Relationship Type="http://schemas.openxmlformats.org/officeDocument/2006/relationships/notesSlide" Target="/ppt/notesSlides/notesSlide5.xml" Id="Ra422b9256a5147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724b76a594b8a" /><Relationship Type="http://schemas.openxmlformats.org/officeDocument/2006/relationships/notesSlide" Target="/ppt/notesSlides/notesSlide6.xml" Id="R17ee9b188caa4b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f9a0f366341e4" /><Relationship Type="http://schemas.openxmlformats.org/officeDocument/2006/relationships/notesSlide" Target="/ppt/notesSlides/notesSlide7.xml" Id="R78c1af5cf9304d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632be72be4b1d" /><Relationship Type="http://schemas.openxmlformats.org/officeDocument/2006/relationships/notesSlide" Target="/ppt/notesSlides/notesSlide8.xml" Id="R9b886e890a6040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8f388bca74a21" /><Relationship Type="http://schemas.openxmlformats.org/officeDocument/2006/relationships/notesSlide" Target="/ppt/notesSlides/notesSlide9.xml" Id="Rb54acff170b248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5148E-7903-46D2-9FE3-BE199A1A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80986-F56D-4ABE-8341-30AA019C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838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Modbus TCP 접근통제 진단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167CB-84C3-4136-9908-B0141C21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E4E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CFE4E8"/>
                </a:solidFill>
                <a:latin typeface="Malgun Gothic"/>
                <a:ea typeface="Malgun Gothic"/>
                <a:cs typeface="Malgun Gothic"/>
              </a:rPr>
              <a:t>가상 OT 환경에서 정상 기준선부터 개선 판단까지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86A49-889D-413F-AEFD-FD46E7D2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58DA1-E63A-4A25-950D-CC58ECFA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인더포레스트 보안 컨설팅 직무 지원 포트폴리오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D802F-7C4A-4D7C-BE30-8972F08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8C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AFC8CF"/>
                </a:solidFill>
                <a:latin typeface="Malgun Gothic"/>
                <a:ea typeface="Malgun Gothic"/>
                <a:cs typeface="Malgun Gothic"/>
              </a:rPr>
              <a:t>OpenPLC · FUXA · Modbus TCP · Docker ·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AD4B9-D44D-49A4-BF6F-6137A2B0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8C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FC8CF"/>
                </a:solidFill>
                <a:latin typeface="Malgun Gothic"/>
                <a:ea typeface="Malgun Gothic"/>
                <a:cs typeface="Malgun Gothic"/>
              </a:rPr>
              <a:t>공개 저장소  github.com/pepclou/ics-security-assessment-lab</a:t>
            </a:r>
          </a:p>
        </p:txBody>
      </p:sp>
    </p:spTree>
    <p:extLst>
      <p:ext uri="{BB962C8B-B14F-4D97-AF65-F5344CB8AC3E}">
        <p14:creationId xmlns:p14="http://schemas.microsoft.com/office/powerpoint/2010/main" val="880407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8FAE1-3FA6-4F90-956B-BD20B2E1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A9A82-1864-4C61-9C96-21E2EB50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지원 직무와 프로젝트의 접점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E8EFE-135D-4B3E-B630-29094C31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DEE96-F19E-4A8B-9D56-F21A0B46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OT 환경의 통신을 읽고, 통제된 시험으로 원인과 영향을 설명하는 역량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JD 요구</a:t>
                      </a:r>
                    </a:p>
                  </a:txBody>
                  <a:tcPr marL="91440" marR="91440" marT="45720" marB="45720">
                    <a:solidFill>
                      <a:srgbClr val="12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포트폴리오에서 제시한 증거</a:t>
                      </a:r>
                    </a:p>
                  </a:txBody>
                  <a:tcPr marL="91440" marR="91440" marT="45720" marB="45720">
                    <a:solidFill>
                      <a:srgbClr val="123B5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23B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OT·PLC·ICS 진단</a:t>
                      </a:r>
                    </a:p>
                  </a:txBody>
                  <a:tcPr marL="91440" marR="91440" marT="45720" marB="45720"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OpenPLC와 FUXA를 연결하고 Modbus 명령과 공정 상태를 함께 분석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23B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취약점 시험환경 구성</a:t>
                      </a:r>
                    </a:p>
                  </a:txBody>
                  <a:tcPr marL="91440" marR="91440" marT="45720" marB="45720"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Docker 네트워크로 정상 HMI와 평가자 역할을 분리해 비교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23B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보고서 작성</a:t>
                      </a:r>
                    </a:p>
                  </a:txBody>
                  <a:tcPr marL="91440" marR="91440" marT="45720" marB="45720"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매트릭스, Finding, 원본 로그, PCAP 해석을 상호 연결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23B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스크립트·자동화</a:t>
                      </a:r>
                    </a:p>
                  </a:txBody>
                  <a:tcPr marL="91440" marR="91440" marT="45720" marB="45720"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검증 도구와 PowerShell 증적 수집 절차 작성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8A46B-4477-4DCB-AB47-7720D06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D3E4B-F99C-4DCA-9371-643415A0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53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소유한 가상 환경에서 수행한 OT 접근통제 진단이다. 블랙박스 모의해킹, 신규 CVE 발견, 실제 설비 평가를 주장하지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04420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02050-789D-42C8-8293-FDAC0FE5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0D63A-C823-4AA9-B20E-FD96D0B8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시험환경과 신뢰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7C3B9-19F5-4A3F-AD1F-CAC010AF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7EBBD-6696-4482-8571-12E9D5C2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개선 전에는 HMI와 일반 평가 client가 같은 제어망에서 PLC 5020 포트에 도달했다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FA241-969C-4BBA-B10E-4496613B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86DD9-32FE-4493-91A7-66345414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FUXA HMI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79D71-6DC6-459C-934B-068884FA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정상 운전 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CCC64-9BBF-4152-BDD8-98621902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0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69487-C388-4E4A-B045-5BE37295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669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OpenPLC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DCBFB-A2E0-4811-9053-6D07B655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860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Modbus TCP :5020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635A1-6E42-47D0-934F-CAEE3631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B77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92941-E9BA-40F9-9C05-BD967FB4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669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47B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47B16"/>
                </a:solidFill>
                <a:latin typeface="Malgun Gothic"/>
                <a:ea typeface="Malgun Gothic"/>
                <a:cs typeface="Malgun Gothic"/>
              </a:rPr>
              <a:t>평가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0BB6A-EFD9-44AD-AA75-8404B655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860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별도 자격증명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321C1-B1C9-4099-8961-B6A842F2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Modbus 읽기·쓰기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87F8D-FC0E-4CA8-9811-21956884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717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47B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47B16"/>
                </a:solidFill>
                <a:latin typeface="Malgun Gothic"/>
                <a:ea typeface="Malgun Gothic"/>
                <a:cs typeface="Malgun Gothic"/>
              </a:rPr>
              <a:t>제어망 공유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34A68-73C7-445B-9548-6117DAF7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1059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26370-1E6B-436B-8859-C9C0A1D5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태그 대응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B5FD6-2891-41AC-9C16-9A3298F3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수위  HR0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F10E5-A819-41DB-9703-F2CCCCCC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05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명령  Coil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8EB9F-D7AF-4F57-A788-05DA50DD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운전 상태  Coil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0DED5-CF89-474E-8B3A-B45C38D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05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고수위 경보  Coil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30CE6-A889-48B2-8E09-6CF01976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0591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42120-C14B-4DC2-9783-26E5CCE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핵심 판단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40FF9-7021-4BB8-AC62-CF971EBB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00650"/>
            <a:ext cx="862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이 구성에서는 TCP 5020 도달 가능성이 사실상 명령 권한의 경계로 작동했다.</a:t>
            </a:r>
          </a:p>
        </p:txBody>
      </p:sp>
    </p:spTree>
    <p:extLst>
      <p:ext uri="{BB962C8B-B14F-4D97-AF65-F5344CB8AC3E}">
        <p14:creationId xmlns:p14="http://schemas.microsoft.com/office/powerpoint/2010/main" val="1386884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83E948-349D-4A1E-BE30-7E04BD81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AAFDD-2ED9-4B4F-8444-CAAE8AAE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시험 절차와 안전 통제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C71D1-DE88-45A4-8FE1-90DD4097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E8DFD-8EEB-4707-955F-B52F520E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DEC5D-D9A0-4018-937C-0BFD4BA4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858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정상 기준선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38A5B-9D20-4EE1-9B42-5711432F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954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정지 상태와 ON·OFF 운전 패킷을 먼저 수집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883F1-A8CD-4520-88F7-F68AFAFF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F3C0D-BB98-497D-BFDE-29CA38E9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EF551-18C6-4074-AAF8-605EC9F6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812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가설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3CD6A-8BB0-4190-A98E-E0C8696E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일반 client가 동일 제어망에서 명령을 바꿀 수 있는지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D11D3-2EE3-4B80-B133-88B286D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06ABC-4A56-405A-89EC-C52CA60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1002D-15FA-4B34-95C5-3149C2C0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제한된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04ABC-0E83-47B6-8A4A-F631E2F8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펌프 명령 1회, 3초 관찰, finally 절에서 OFF 복원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73850-67F0-479A-A3AD-D1B5BE28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004A3-FFC6-4283-96D8-4FE7EE0B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F768C-0C73-4C9A-8B58-CA66F6F1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719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원인과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CFB6D-7838-4C84-98A6-7A865D09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프로토콜 특성과 배치 문제를 구분하고 평가망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53410-9978-469C-AD16-055416A4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73961-FD7D-4FCD-9BA9-ECEC8FD6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3A7B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7D707-7317-42E9-971D-B8EB184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672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재검증 판단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FD772-1240-489A-B179-12939125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DNS 실패만으로 차단을 확정하지 않고 판정을 낮춤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EDE2C-45B2-4D51-A717-E5E710A6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55F2F-4178-4EB3-86EF-5E525560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534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27B46-8144-46D1-BDB7-5C1526B6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7B1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47B16"/>
                </a:solidFill>
                <a:latin typeface="Malgun Gothic"/>
                <a:ea typeface="Malgun Gothic"/>
                <a:cs typeface="Malgun Gothic"/>
              </a:rPr>
              <a:t>중단 조건  예상하지 못한 값, 갱신 중단, 반복 timeout, 복원 실패가 발생하면 쓰기를 중단하고 상태를 확인</a:t>
            </a:r>
          </a:p>
        </p:txBody>
      </p:sp>
    </p:spTree>
    <p:extLst>
      <p:ext uri="{BB962C8B-B14F-4D97-AF65-F5344CB8AC3E}">
        <p14:creationId xmlns:p14="http://schemas.microsoft.com/office/powerpoint/2010/main" val="5751607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84175-76E0-4E0B-8604-7C748E24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4BB85-2067-40A5-9ABB-1AFA7AD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정상 통신 기준선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CD3AF-1BCC-46D4-9487-598E6FB8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BC828-5C8A-42C4-89B6-BC2A6C0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27쌍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16A9D-C532-45F8-BF6C-3EB78DDD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정지 상태 요청·응답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8E109-6EB2-4A79-BD09-CFB905CF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33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120쌍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86914-B83E-46A5-B7B2-93895F34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ON·OFF 운전 요청·응답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84D9D-5FCF-43FC-844C-77D5E3E5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33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80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805A"/>
                </a:solidFill>
                <a:latin typeface="Malgun Gothic"/>
                <a:ea typeface="Malgun Gothic"/>
                <a:cs typeface="Malgun Gothic"/>
              </a:rPr>
              <a:t>0 → 6 →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28A44-E71C-4606-9036-D1B3571B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관찰한 수위 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1956D-E70F-4A97-86E5-C716EFAF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805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8805A"/>
                </a:solidFill>
                <a:latin typeface="Malgun Gothic"/>
                <a:ea typeface="Malgun Gothic"/>
                <a:cs typeface="Malgun Gothic"/>
              </a:rPr>
              <a:t>00 → 03 → 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0252B-129A-4A34-92A6-3441446A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Coil 상태 바이트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C93F5-CBE9-4C1B-9F07-7453B6EA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49D1F-A373-4C2C-9549-2D42F38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패킷에서 확인한 동작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7FEE4-FD3F-4438-BF23-552D3DAC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FC03  Holding Register 0 읽기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F650E-62B5-4E65-837D-B8FE6C82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62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FC01  Coil 0부터 3개 상태 읽기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8CF51-C8EE-4F02-A6A4-16DB98F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768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FC05  Coil 0에 ON 0xFF00, OFF 0x0000 쓰기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8de84ead64189"/>
          <a:stretch xmlns:a="http://schemas.openxmlformats.org/drawingml/2006/main"/>
        </p:blipFill>
        <p:spPr>
          <a:xfrm xmlns:a="http://schemas.openxmlformats.org/drawingml/2006/main">
            <a:off x="6750729" y="3333750"/>
            <a:ext cx="4215041" cy="19526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30F51-7841-4460-B2FA-CA92A1A9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FUXA 80% 고수위 경보 관찰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48999-197A-4BBC-81C0-01327C1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48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정지 캡처는 13.011초이며 장시간 안정성을 의미하지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926731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AF8F4-BFCC-4F95-9ECE-AC1D57A4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A5DDF-F512-4A18-965B-A318F9FE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Finding AC-01  제어망 내부의 제한 없는 Modbus 명령 접근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4B83B-BF67-4094-A84B-9F7230F2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6A576-1340-4E14-A51F-02D966AB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rPr>
              <a:t>이 실습의 신뢰 모델에서 높음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AFFCE-0872-4974-A12A-B0D9B3DA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E6B3B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C73B-2653-49CC-9E92-B3E64E38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rPr>
              <a:t>관찰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9CF17-9AB2-41CB-9942-EB90AF77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905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같은 제어망의 일반 client가 FUXA 세션이나 PLC 자격증명 없이 Coil 0 명령을 ON으로 변경했다.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AB34A-5731-4425-8D80-7FECA196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rPr>
              <a:t>0 →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F3B0E-2027-4A41-A085-7E97A8DB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시험 중 수위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2709B-9C7A-44C7-BDD2-7C701D62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rPr>
              <a:t>true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944D6-78EA-4B2F-B750-6D226393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pump_command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3466B-B483-440C-A6AC-DA0BF292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D25D0-3C91-4B44-8FB1-2FA96F52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pump_running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C3ED3-672D-49C0-AF42-2595B8FB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80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805A"/>
                </a:solidFill>
                <a:latin typeface="Malgun Gothic"/>
                <a:ea typeface="Malgun Gothic"/>
                <a:cs typeface="Malgun Gothic"/>
              </a:rPr>
              <a:t>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8B1A0-37C7-47E4-A31D-544C28F9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9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시험 후 복원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72532-01F1-4133-A507-4D6CA8AC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796BD-A4E6-4EEB-9CDD-DA3E356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577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OpenPLC, FUXA, 평가 도구가 하나의 평면 네트워크를 공유했고 Modbus 자체에서 client 역할을 구분하지 않았다.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B0A64-9499-4EF3-9B82-C988B61B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영향 범위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4894D-7D55-4394-BB08-5522A4FF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007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가상 펌프 명령과 상태 변화까지 확인했다. 실제 설비의 물리 피해나 제품 취약성은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673749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5DB7A-16A8-4268-B6A1-C25FD52B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5F7EE-7695-4706-B7D4-9760BC1E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개선과 재검증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B4CD2-530A-4BEC-9420-4E8E4F83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D3CED-0B37-4770-9D74-8A0264DD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평가 도구를 별도 internal assessment 네트워크로 이동하고 PLC·HMI는 control에 유지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6716E-962A-4BBA-9411-E11EC2EE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542B9-5948-4F04-BB21-42D94DCD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27B17-0F3B-4996-A70D-886FDCA1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805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805A"/>
                </a:solidFill>
                <a:latin typeface="Malgun Gothic"/>
                <a:ea typeface="Malgun Gothic"/>
                <a:cs typeface="Malgun Gothic"/>
              </a:rPr>
              <a:t>FUXA  ↔  OpenPLC:5020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9088C-C155-491D-A3F2-DFA0800A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35D33-D7F9-40DF-9B0E-006F3A75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52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assessment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1180E-17A0-4F19-BED1-E700E2B8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67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평가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9CC45-7082-47A1-9D5C-D4BF49B4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3840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94242"/>
                </a:solidFill>
                <a:latin typeface="Malgun Gothic"/>
                <a:ea typeface="Malgun Gothic"/>
                <a:cs typeface="Malgun Gothic"/>
              </a:rPr>
              <a:t>네트워크 분리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762000" y="3876675"/>
          <a:ext xmlns:a="http://schemas.openxmlformats.org/drawingml/2006/main" cx="10668000" cy="1866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714500"/>
                <a:gridCol w="6096000"/>
              </a:tblGrid>
              <a:tr h="4667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재검증 항목</a:t>
                      </a:r>
                    </a:p>
                  </a:txBody>
                  <a:tcPr marL="91440" marR="91440" marT="45720" marB="45720">
                    <a:solidFill>
                      <a:srgbClr val="12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판정</a:t>
                      </a:r>
                    </a:p>
                  </a:txBody>
                  <a:tcPr marL="91440" marR="91440" marT="45720" marB="45720">
                    <a:solidFill>
                      <a:srgbClr val="12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근거</a:t>
                      </a:r>
                    </a:p>
                  </a:txBody>
                  <a:tcPr marL="91440" marR="91440" marT="45720" marB="45720">
                    <a:solidFill>
                      <a:srgbClr val="123B5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 기반 접속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47B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확인</a:t>
                      </a:r>
                    </a:p>
                  </a:txBody>
                  <a:tcPr marL="91440" marR="91440" marT="45720" marB="45720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DNS 오류로 Modbus 단계에 도달하지 못함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IP TCP 5020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47B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미검증</a:t>
                      </a:r>
                    </a:p>
                  </a:txBody>
                  <a:tcPr marL="91440" marR="91440" marT="45720" marB="45720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DNS 실패로 대체 판정하지 않음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허용된 HMI 운전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47B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부분 확인</a:t>
                      </a:r>
                    </a:p>
                  </a:txBody>
                  <a:tcPr marL="91440" marR="91440" marT="45720" marB="45720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운영자 관찰과 정지 화면, 조치 후 PCAP 없음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79F1E-1D6C-43E1-AB5D-8B1AD055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잘못된 확신보다 증거의 범위를 좁혀 쓰는 판단을 선택했다.</a:t>
            </a:r>
          </a:p>
        </p:txBody>
      </p:sp>
    </p:spTree>
    <p:extLst>
      <p:ext uri="{BB962C8B-B14F-4D97-AF65-F5344CB8AC3E}">
        <p14:creationId xmlns:p14="http://schemas.microsoft.com/office/powerpoint/2010/main" val="767807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A9720-2D49-4BBF-80B3-78952A14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F88D1-21B7-46E8-82CD-0ACCC7AB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증적 추적과 판정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B837C-373D-47F3-8346-E7F07ED4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257300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809750"/>
                <a:gridCol w="5543550"/>
              </a:tblGrid>
              <a:tr h="6159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</a:t>
                      </a:r>
                    </a:p>
                  </a:txBody>
                  <a:tcPr marL="91440" marR="91440" marT="45720" marB="45720">
                    <a:solidFill>
                      <a:srgbClr val="12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</a:t>
                      </a:r>
                    </a:p>
                  </a:txBody>
                  <a:tcPr marL="91440" marR="91440" marT="45720" marB="45720">
                    <a:solidFill>
                      <a:srgbClr val="12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증적</a:t>
                      </a:r>
                    </a:p>
                  </a:txBody>
                  <a:tcPr marL="91440" marR="91440" marT="45720" marB="45720">
                    <a:solidFill>
                      <a:srgbClr val="123B55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MB-01 정상 Modbus 분석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80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27쌍, 운전 120쌍 PCAP 분석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AC-01 제어망 도달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80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client의 초기 태그 읽기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AC-02 제한된 명령 쓰기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80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수위 0→3, 명령과 상태 확인, OFF 복원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RT-IP 직접 IP 차단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47B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 TESTED</a:t>
                      </a:r>
                    </a:p>
                  </a:txBody>
                  <a:tcPr marL="91440" marR="91440" marT="45720" marB="45720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수집 절차 작성, 실행 증거 없음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OP-01 조치 후 HMI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47B1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PARTIAL</a:t>
                      </a:r>
                    </a:p>
                  </a:txBody>
                  <a:tcPr marL="91440" marR="91440" marT="45720" marB="45720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운영자 관찰과 정지 화면, 새 PCAP 없음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E8A5B-26CA-4334-B44A-368F2263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재현성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6BD5E-4813-4D39-9A0E-D85CF4EC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원본 로그·PCAP·SHA-256·시험 매트릭스를 연결하고, 새 실행은 별도 Run ID로 보존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63CBE-7FF3-49CF-A531-231D5E77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FF364-869E-4AFE-93CC-D2D098C1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674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환경 식별과 신뢰·비신뢰 TCP 경로 대조를 PowerShell 한 번으로 수집</a:t>
            </a:r>
          </a:p>
        </p:txBody>
      </p:sp>
    </p:spTree>
    <p:extLst>
      <p:ext uri="{BB962C8B-B14F-4D97-AF65-F5344CB8AC3E}">
        <p14:creationId xmlns:p14="http://schemas.microsoft.com/office/powerpoint/2010/main" val="8223447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5BA55-F3B6-4FE2-97A1-A012ACB6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660C6-3386-4595-931E-E872CE47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이 프로젝트가 보여주는 업무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41E0F-A5A1-4F5E-9D8C-4EED0D9C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CF10E-85BA-4B60-9E82-7A75A779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패킷 하나를 취약점으로 단정하지 않고 공정 상태와 배치 조건까지 확인했습니다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91223-873F-422D-A6FA-1368629C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정상부터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B969E-57F3-4212-810B-8738D573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정상 HMI의 읽기·쓰기 패턴을 기준선으로 확보한 뒤 평가했다.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D96C4-9386-49FC-827E-9B0CE5EA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영향을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95DA4-14C4-44DA-8673-DA17C81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Modbus 응답 성공과 실제 펌프 상태·수위 변화를 함께 확인했다.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0AD13-950B-4720-91D8-4BACF659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한계를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33614-14C0-4481-B53F-EAA6274D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제품 취약성, 실제 물리 영향, 표준 준수를 결과 범위에서 제외했다.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51DDB-4426-4258-9448-4EE4C22D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판정을 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0C872-2E07-499C-A1EB-56D4ADCE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81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DNS 실패를 네트워크 차단으로 보지 않고 재검증 상태를 낮췄다.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E196C-CABA-41F2-961B-93AFEF41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6B8C"/>
                </a:solidFill>
                <a:latin typeface="Malgun Gothic"/>
                <a:ea typeface="Malgun Gothic"/>
                <a:cs typeface="Malgun Gothic"/>
              </a:rPr>
              <a:t>재현성을 남김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AF8FC-6D82-4C36-B0C4-97ABEABE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202B"/>
                </a:solidFill>
                <a:latin typeface="Malgun Gothic"/>
                <a:ea typeface="Malgun Gothic"/>
                <a:cs typeface="Malgun Gothic"/>
              </a:rPr>
              <a:t>시험표, 원본 증적, 해시와 재시험 절차를 공개 저장소에 연결했다.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FC83E-5670-42D6-9D10-971A0DA9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7B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370B2-0896-4B42-B390-38FDD21C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rPr>
              <a:t>목표 직무  OT·ICS 취약점 시험 및 분석 컨설팅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8F56C-BDCA-4F70-9227-6C5BBA92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0"/>
            <a:ext cx="501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3"/>
                </a:solidFill>
                <a:latin typeface="Malgun Gothic"/>
                <a:ea typeface="Malgun Gothic"/>
                <a:cs typeface="Malgun Gothic"/>
              </a:rPr>
              <a:t>GitHub  pepclou/ics-security-assessment-lab</a:t>
            </a:r>
          </a:p>
        </p:txBody>
      </p:sp>
    </p:spTree>
    <p:extLst>
      <p:ext uri="{BB962C8B-B14F-4D97-AF65-F5344CB8AC3E}">
        <p14:creationId xmlns:p14="http://schemas.microsoft.com/office/powerpoint/2010/main" val="409517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2026-10-06T09:05:48.7070000Z</dcterms:created>
  <dcterms:modified xsi:type="dcterms:W3CDTF">2026-10-06T09:05:48.7080000Z</dcterms:modified>
</coreProperties>
</file>